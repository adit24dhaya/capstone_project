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649"/>
  </p:normalViewPr>
  <p:slideViewPr>
    <p:cSldViewPr snapToGrid="0" snapToObjects="1">
      <p:cViewPr>
        <p:scale>
          <a:sx n="152" d="100"/>
          <a:sy n="152" d="100"/>
        </p:scale>
        <p:origin x="80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cb_hero_mos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417320" cy="310896"/>
          </a:xfrm>
          <a:prstGeom prst="roundRect">
            <a:avLst/>
          </a:prstGeom>
          <a:solidFill>
            <a:srgbClr val="DD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1197864" cy="137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800" b="1">
                <a:solidFill>
                  <a:srgbClr val="00604C"/>
                </a:solidFill>
                <a:latin typeface="Aptos"/>
              </a:defRPr>
            </a:pPr>
            <a:r>
              <a:t>ESCS'26 / CSCE'26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5120640" cy="1874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Real-Time PCB Defect Detection for Embedded Visual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75850"/>
            <a:ext cx="4245429" cy="5909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0">
                <a:solidFill>
                  <a:srgbClr val="D7F6F0"/>
                </a:solidFill>
                <a:latin typeface="Aptos"/>
              </a:defRPr>
            </a:pPr>
            <a:r>
              <a:rPr dirty="0"/>
              <a:t>A same-split comparison of YOLO11s and RT-DETR-L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96512"/>
            <a:ext cx="1051560" cy="41148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5166360"/>
            <a:ext cx="59436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Aditya Varun Dhayapulay and Paul Salvador Inventado</a:t>
            </a:r>
            <a:br/>
            <a:r>
              <a:t>California State University, Fullerton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00" b="0">
                <a:solidFill>
                  <a:srgbClr val="DCEBE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Why PCB Inspection Is Hard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2</a:t>
            </a:r>
          </a:p>
        </p:txBody>
      </p:sp>
      <p:pic>
        <p:nvPicPr>
          <p:cNvPr id="7" name="Picture 6" descr="clean_open_circ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98448"/>
            <a:ext cx="4892040" cy="4251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3232" y="5138928"/>
            <a:ext cx="489204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266944"/>
            <a:ext cx="43434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Small visual defects must become actionable locations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2588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1325880"/>
            <a:ext cx="73152" cy="109728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08776" y="1472184"/>
            <a:ext cx="220370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INSPECTION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673352"/>
            <a:ext cx="220370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small defects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075688"/>
            <a:ext cx="22037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missing holes, shorts, spurs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32588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0" y="1325880"/>
            <a:ext cx="73152" cy="109728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97696" y="1472184"/>
            <a:ext cx="220370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OUTPUT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1673352"/>
            <a:ext cx="220370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boxes +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075688"/>
            <a:ext cx="22037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not image-level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71800"/>
            <a:ext cx="4754880" cy="213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8262E"/>
                </a:solidFill>
                <a:latin typeface="Aptos"/>
              </a:defRPr>
            </a:pPr>
            <a:r>
              <a:rPr dirty="0"/>
              <a:t>Defects can become more expensive after assembly.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8262E"/>
                </a:solidFill>
                <a:latin typeface="Aptos"/>
              </a:defRPr>
            </a:pPr>
            <a:r>
              <a:rPr dirty="0"/>
              <a:t>Localization supports review, repair, and process analytics.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8262E"/>
                </a:solidFill>
                <a:latin typeface="Aptos"/>
              </a:defRPr>
            </a:pPr>
            <a:r>
              <a:rPr dirty="0"/>
              <a:t>A useful detector must balance recall, box quality, and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2860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10698480" cy="96012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325880"/>
            <a:ext cx="100584" cy="96012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1508760"/>
            <a:ext cx="10195559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Under one controlled PCB defect split, how do YOLO11s and RT-DETR-L compare for real-time visual inspection?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8892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944368"/>
            <a:ext cx="23774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00ADA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246120"/>
            <a:ext cx="23774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 Display"/>
              </a:defRPr>
            </a:pPr>
            <a:r>
              <a:t>PCB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78892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944368"/>
            <a:ext cx="23774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00ADA6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23774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 Display"/>
              </a:defRPr>
            </a:pPr>
            <a:r>
              <a:t>YOLO11s vs RT-DETR-L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88920"/>
            <a:ext cx="2788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2944368"/>
            <a:ext cx="23774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00ADA6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3246120"/>
            <a:ext cx="23774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 Display"/>
              </a:defRPr>
            </a:pPr>
            <a:r>
              <a:t>boxes, classes,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00600"/>
            <a:ext cx="9784080" cy="80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8262E"/>
                </a:solidFill>
                <a:latin typeface="Aptos"/>
              </a:defRPr>
            </a:pPr>
            <a:r>
              <a:rPr dirty="0"/>
              <a:t>Deployment-oriented: accuracy, localization, latency, and failure behavior.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8262E"/>
                </a:solidFill>
                <a:latin typeface="Aptos"/>
              </a:defRPr>
            </a:pPr>
            <a:r>
              <a:rPr dirty="0"/>
              <a:t>Contribution is a reproducible benchmark, not a new detector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What the Camera-Ready Version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81912"/>
            <a:ext cx="502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EB5B0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1563624"/>
            <a:ext cx="228600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01F2D"/>
                </a:solidFill>
                <a:latin typeface="Aptos"/>
              </a:defRPr>
            </a:pPr>
            <a:r>
              <a:t>Preserves practical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130552"/>
            <a:ext cx="2286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53656F"/>
                </a:solidFill>
                <a:latin typeface="Aptos"/>
              </a:defRPr>
            </a:pPr>
            <a:r>
              <a:t>YOLO11s-1280 vs RT-DETR-L-640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1732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7" y="1581912"/>
            <a:ext cx="502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EB5B0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1563624"/>
            <a:ext cx="228600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01F2D"/>
                </a:solidFill>
                <a:latin typeface="Aptos"/>
              </a:defRPr>
            </a:pPr>
            <a:r>
              <a:t>Adds matched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1" y="2130552"/>
            <a:ext cx="2286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53656F"/>
                </a:solidFill>
                <a:latin typeface="Aptos"/>
              </a:defRPr>
            </a:pPr>
            <a:r>
              <a:t>YOLO11s-640 vs RT-DETR-L-640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581912"/>
            <a:ext cx="502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EB5B0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563624"/>
            <a:ext cx="228600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01F2D"/>
                </a:solidFill>
                <a:latin typeface="Aptos"/>
              </a:defRPr>
            </a:pPr>
            <a:r>
              <a:t>Tests high-res RT-DETR-L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130552"/>
            <a:ext cx="2286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53656F"/>
                </a:solidFill>
                <a:latin typeface="Aptos"/>
              </a:defRPr>
            </a:pPr>
            <a:r>
              <a:t>1280 px, batch size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3756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502152"/>
            <a:ext cx="502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EB5B00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3483864"/>
            <a:ext cx="228600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01F2D"/>
                </a:solidFill>
                <a:latin typeface="Aptos"/>
              </a:defRPr>
            </a:pPr>
            <a:r>
              <a:t>Fixes per-class semantics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050792"/>
            <a:ext cx="2286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53656F"/>
                </a:solidFill>
                <a:latin typeface="Aptos"/>
              </a:defRPr>
            </a:pPr>
            <a:r>
              <a:t>canonical class-ID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337560"/>
            <a:ext cx="3246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7" y="3502152"/>
            <a:ext cx="502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EB5B00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483864"/>
            <a:ext cx="228600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01F2D"/>
                </a:solidFill>
                <a:latin typeface="Aptos"/>
              </a:defRPr>
            </a:pPr>
            <a:r>
              <a:t>Adds deployment artifact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1" y="4050792"/>
            <a:ext cx="2286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50" b="0">
                <a:solidFill>
                  <a:srgbClr val="53656F"/>
                </a:solidFill>
                <a:latin typeface="Aptos"/>
              </a:defRPr>
            </a:pPr>
            <a:r>
              <a:t>Hugging Face Space demo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486400"/>
            <a:ext cx="8412480" cy="66294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20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828800" y="5486400"/>
            <a:ext cx="100584" cy="662940"/>
          </a:xfrm>
          <a:prstGeom prst="rect">
            <a:avLst/>
          </a:prstGeom>
          <a:solidFill>
            <a:srgbClr val="2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39696" y="5669280"/>
            <a:ext cx="7909559" cy="3429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Practical result + controlled evidence + honest deployment scope.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Dataset and Defect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1600200" cy="329184"/>
          </a:xfrm>
          <a:prstGeom prst="roundRect">
            <a:avLst/>
          </a:prstGeom>
          <a:solidFill>
            <a:srgbClr val="E5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389888"/>
            <a:ext cx="13807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00604C"/>
                </a:solidFill>
                <a:latin typeface="Aptos"/>
              </a:defRPr>
            </a:pPr>
            <a:r>
              <a:t>Missing hole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325880"/>
            <a:ext cx="1600200" cy="329184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79776" y="1389888"/>
            <a:ext cx="13807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205FAF"/>
                </a:solidFill>
                <a:latin typeface="Aptos"/>
              </a:defRPr>
            </a:pPr>
            <a:r>
              <a:t>Mouse bite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0288" y="1325880"/>
            <a:ext cx="1600200" cy="329184"/>
          </a:xfrm>
          <a:prstGeom prst="roundRect">
            <a:avLst/>
          </a:prstGeom>
          <a:solidFill>
            <a:srgbClr val="E5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0016" y="1389888"/>
            <a:ext cx="13807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00604C"/>
                </a:solidFill>
                <a:latin typeface="Aptos"/>
              </a:defRPr>
            </a:pPr>
            <a:r>
              <a:t>Open circuit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828800"/>
            <a:ext cx="1600200" cy="329184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1892807"/>
            <a:ext cx="13807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205FAF"/>
                </a:solidFill>
                <a:latin typeface="Aptos"/>
              </a:defRPr>
            </a:pPr>
            <a:r>
              <a:t>Short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0048" y="1828800"/>
            <a:ext cx="1600200" cy="329184"/>
          </a:xfrm>
          <a:prstGeom prst="roundRect">
            <a:avLst/>
          </a:prstGeom>
          <a:solidFill>
            <a:srgbClr val="E5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79776" y="1892807"/>
            <a:ext cx="13807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00604C"/>
                </a:solidFill>
                <a:latin typeface="Aptos"/>
              </a:defRPr>
            </a:pPr>
            <a:r>
              <a:t>Spur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0288" y="1828800"/>
            <a:ext cx="1600200" cy="329184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0016" y="1892807"/>
            <a:ext cx="13807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1">
                <a:solidFill>
                  <a:srgbClr val="205FAF"/>
                </a:solidFill>
                <a:latin typeface="Aptos"/>
              </a:defRPr>
            </a:pPr>
            <a:r>
              <a:t>Spurious copper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78892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2788920"/>
            <a:ext cx="73152" cy="109728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6" y="2935224"/>
            <a:ext cx="20665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TRAIN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136391"/>
            <a:ext cx="206654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5,551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3538727"/>
            <a:ext cx="206654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deterministic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278892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0" y="2788920"/>
            <a:ext cx="73152" cy="1097280"/>
          </a:xfrm>
          <a:prstGeom prst="rect">
            <a:avLst/>
          </a:prstGeom>
          <a:solidFill>
            <a:srgbClr val="2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94176" y="2935224"/>
            <a:ext cx="20665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3136391"/>
            <a:ext cx="206654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1,016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3538727"/>
            <a:ext cx="206654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2,106 instances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78892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2788920"/>
            <a:ext cx="73152" cy="109728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5936" y="2935224"/>
            <a:ext cx="20665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3136391"/>
            <a:ext cx="206654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1,016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538727"/>
            <a:ext cx="206654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2,179 instances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278892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778240" y="2788920"/>
            <a:ext cx="73152" cy="1097280"/>
          </a:xfrm>
          <a:prstGeom prst="rect">
            <a:avLst/>
          </a:prstGeom>
          <a:solidFill>
            <a:srgbClr val="E6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97696" y="2935224"/>
            <a:ext cx="206654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BALANCING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7696" y="3136391"/>
            <a:ext cx="206654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7696" y="3538727"/>
            <a:ext cx="206654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copy-paste train images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" y="4800600"/>
            <a:ext cx="9875520" cy="68580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51560" y="4800600"/>
            <a:ext cx="100584" cy="68580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62456" y="4983480"/>
            <a:ext cx="9372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All reported configurations use the same validation and test image assignments.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2860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Reproducible 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320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00ADA6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581912"/>
            <a:ext cx="16002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075688"/>
            <a:ext cx="19202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30" b="0">
                <a:solidFill>
                  <a:srgbClr val="53656F"/>
                </a:solidFill>
                <a:latin typeface="Aptos"/>
              </a:defRPr>
            </a:pPr>
            <a:r>
              <a:t>Tesla V100-SXM2-32GB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1732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1581912"/>
            <a:ext cx="320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00ADA6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1581912"/>
            <a:ext cx="16002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5" y="2075688"/>
            <a:ext cx="19202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30" b="0">
                <a:solidFill>
                  <a:srgbClr val="53656F"/>
                </a:solidFill>
                <a:latin typeface="Aptos"/>
              </a:defRPr>
            </a:pPr>
            <a:r>
              <a:t>Ultralytics 8.4.51 / PyTorch 2.5.1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41732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1581912"/>
            <a:ext cx="320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00ADA6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81912"/>
            <a:ext cx="16002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075688"/>
            <a:ext cx="19202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30" b="0">
                <a:solidFill>
                  <a:srgbClr val="53656F"/>
                </a:solidFill>
                <a:latin typeface="Aptos"/>
              </a:defRPr>
            </a:pPr>
            <a:r>
              <a:t>batch 1, workers 0, no TTA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41732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63456" y="1581912"/>
            <a:ext cx="320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00ADA6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1581912"/>
            <a:ext cx="16002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075688"/>
            <a:ext cx="19202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30" b="0">
                <a:solidFill>
                  <a:srgbClr val="53656F"/>
                </a:solidFill>
                <a:latin typeface="Aptos"/>
              </a:defRPr>
            </a:pPr>
            <a:r>
              <a:t>P, R, F1, mAP50, mAP50-95, 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886200"/>
            <a:ext cx="10149840" cy="960120"/>
          </a:xfrm>
          <a:prstGeom prst="roundRect">
            <a:avLst/>
          </a:prstGeom>
          <a:solidFill>
            <a:srgbClr val="FFF0E2"/>
          </a:solidFill>
          <a:ln w="12700">
            <a:solidFill>
              <a:srgbClr val="EB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3886200"/>
            <a:ext cx="100584" cy="96012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25296" y="4069080"/>
            <a:ext cx="9646919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Baseline gate: archived checkpoint metrics must reproduce within 0.001 before new experiments are trusted.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83480"/>
            <a:ext cx="969264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600" b="1">
                <a:solidFill>
                  <a:srgbClr val="101F2D"/>
                </a:solidFill>
                <a:latin typeface="Aptos"/>
              </a:defRPr>
            </a:pPr>
            <a:r>
              <a:rPr dirty="0"/>
              <a:t>Observed differences were approximately 10⁻⁸, confirming exact split/evaluator reproduction.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Models and Training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1099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Configuration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Image size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Epochs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Batch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YOLO11s original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1280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accepted practical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RT-DETR-L original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640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accepted practical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YOLO11s controlled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640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matched resolution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RT-DETR-L controlled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640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matched resolution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RT-DETR-L high-res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1280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high-res analysis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97280" y="5074920"/>
            <a:ext cx="9875520" cy="96012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5074920"/>
            <a:ext cx="100584" cy="96012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8176" y="5257800"/>
            <a:ext cx="9372600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The 1280-pixel RT-DETR-L run completed; the planned 960-pixel fallback was not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REVIEWER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The Key Fairness Issue: Resolution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4892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27632"/>
            <a:ext cx="4206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 Display"/>
              </a:defRPr>
            </a:pPr>
            <a:r>
              <a:t>Accepted practical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148840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1560" y="2148840"/>
            <a:ext cx="73152" cy="109728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71016" y="2295144"/>
            <a:ext cx="1655063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YOLO11S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2496312"/>
            <a:ext cx="1655063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1280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898648"/>
            <a:ext cx="1655063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more spatial 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148840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2148840"/>
            <a:ext cx="73152" cy="109728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57015" y="2295144"/>
            <a:ext cx="1655063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RT-DETR-L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5" y="2496312"/>
            <a:ext cx="1655063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640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5" y="2898648"/>
            <a:ext cx="1655063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lower input 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57600"/>
            <a:ext cx="40690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53656F"/>
                </a:solidFill>
                <a:latin typeface="Aptos"/>
              </a:defRPr>
            </a:pPr>
            <a:r>
              <a:t>Useful as a deployment comparison, but not an architecture-only ablation.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325880"/>
            <a:ext cx="4892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1627632"/>
            <a:ext cx="4206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 Display"/>
              </a:defRPr>
            </a:pPr>
            <a:r>
              <a:t>Camera-ready fix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148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12280" y="2148840"/>
            <a:ext cx="73152" cy="1097280"/>
          </a:xfrm>
          <a:prstGeom prst="rect">
            <a:avLst/>
          </a:prstGeom>
          <a:solidFill>
            <a:srgbClr val="2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31736" y="2295144"/>
            <a:ext cx="170078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MATCHED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2496312"/>
            <a:ext cx="170078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640 vs 640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2898648"/>
            <a:ext cx="170078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same split and evaluator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148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98280" y="2148840"/>
            <a:ext cx="73152" cy="1097280"/>
          </a:xfrm>
          <a:prstGeom prst="rect">
            <a:avLst/>
          </a:prstGeom>
          <a:solidFill>
            <a:srgbClr val="E6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17736" y="2295144"/>
            <a:ext cx="170078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HIGH-RES 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2496312"/>
            <a:ext cx="170078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1280 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898648"/>
            <a:ext cx="170078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separate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657600"/>
            <a:ext cx="40690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53656F"/>
                </a:solidFill>
                <a:latin typeface="Aptos"/>
              </a:defRPr>
            </a:pPr>
            <a:r>
              <a:t>Separates practical configurations from resolution-controlled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Accepted Practical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34440"/>
          <a:ext cx="109270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1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mAP50-95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ms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YOLO11s 1280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0.880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0.866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0.873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0.902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0.502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15.2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RT-DETR-L 640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0.886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0.839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0.862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0.887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0.470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49.8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3063240"/>
            <a:ext cx="32918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56432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YOLO11s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474720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11680" y="3474720"/>
            <a:ext cx="2533985" cy="164592"/>
          </a:xfrm>
          <a:prstGeom prst="round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3438144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0.866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95344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RT-DETR-L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913632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011680" y="3913632"/>
            <a:ext cx="2454981" cy="164592"/>
          </a:xfrm>
          <a:prstGeom prst="round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3877056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0.839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42232"/>
            <a:ext cx="429768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3656F"/>
                </a:solidFill>
                <a:latin typeface="Aptos"/>
              </a:defRPr>
            </a:pPr>
            <a:r>
              <a:t>higher is better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63240"/>
            <a:ext cx="32918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mAP50-95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456432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YOLO11s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474720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06640" y="3474720"/>
            <a:ext cx="1468892" cy="164592"/>
          </a:xfrm>
          <a:prstGeom prst="round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69880" y="3438144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0.502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895344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RT-DETR-L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913632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06640" y="3913632"/>
            <a:ext cx="1375257" cy="164592"/>
          </a:xfrm>
          <a:prstGeom prst="round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69880" y="3877056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0.470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42232"/>
            <a:ext cx="429768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3656F"/>
                </a:solidFill>
                <a:latin typeface="Aptos"/>
              </a:defRPr>
            </a:pPr>
            <a:r>
              <a:t>stricter localization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32918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Total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85232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YOLO11s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5303520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011680" y="5303520"/>
            <a:ext cx="808662" cy="164592"/>
          </a:xfrm>
          <a:prstGeom prst="round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4920" y="5266944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15.2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24144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RT-DETR-L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5742431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011680" y="5742431"/>
            <a:ext cx="2649432" cy="164592"/>
          </a:xfrm>
          <a:prstGeom prst="round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74920" y="5705855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49.8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971031"/>
            <a:ext cx="429768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3656F"/>
                </a:solidFill>
                <a:latin typeface="Aptos"/>
              </a:defRPr>
            </a:pPr>
            <a:r>
              <a:t>milliseconds; lower is better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965192"/>
            <a:ext cx="4754880" cy="125730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63640" y="4965192"/>
            <a:ext cx="100584" cy="125730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74536" y="5148072"/>
            <a:ext cx="4251960" cy="93725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Interpretation: practical deployment choice among completed configurations.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Matched-Resolution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34440"/>
          <a:ext cx="109270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1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1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mAP50-95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ms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YOLO11s 640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0.870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0.852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0.861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0.892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0.482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13.2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RT-DETR-L 640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0.867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0.839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0.853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0.881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0.462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49.0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3063240"/>
            <a:ext cx="32918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56432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YOLO11s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474720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11680" y="3474720"/>
            <a:ext cx="2493020" cy="164592"/>
          </a:xfrm>
          <a:prstGeom prst="round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3438144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0.852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95344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RT-DETR-L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913632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011680" y="3913632"/>
            <a:ext cx="2454981" cy="164592"/>
          </a:xfrm>
          <a:prstGeom prst="round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3877056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0.839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42232"/>
            <a:ext cx="429768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3656F"/>
                </a:solidFill>
                <a:latin typeface="Aptos"/>
              </a:defRPr>
            </a:pPr>
            <a:r>
              <a:t>same 640 px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63240"/>
            <a:ext cx="32918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101F2D"/>
                </a:solidFill>
                <a:latin typeface="Aptos"/>
              </a:defRPr>
            </a:pPr>
            <a:r>
              <a:t>mAP50-95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456432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YOLO11s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474720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06640" y="3474720"/>
            <a:ext cx="1410370" cy="164592"/>
          </a:xfrm>
          <a:prstGeom prst="round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69880" y="3438144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0.482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895344"/>
            <a:ext cx="10515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RT-DETR-L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913632"/>
            <a:ext cx="2926080" cy="164592"/>
          </a:xfrm>
          <a:prstGeom prst="roundRect">
            <a:avLst/>
          </a:prstGeom>
          <a:solidFill>
            <a:srgbClr val="E0E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06640" y="3913632"/>
            <a:ext cx="1351848" cy="164592"/>
          </a:xfrm>
          <a:prstGeom prst="round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69880" y="3877056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50" b="1">
                <a:solidFill>
                  <a:srgbClr val="101F2D"/>
                </a:solidFill>
                <a:latin typeface="Aptos"/>
              </a:defRPr>
            </a:pPr>
            <a:r>
              <a:t>0.462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42232"/>
            <a:ext cx="429768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0">
                <a:solidFill>
                  <a:srgbClr val="53656F"/>
                </a:solidFill>
                <a:latin typeface="Aptos"/>
              </a:defRPr>
            </a:pPr>
            <a:r>
              <a:t>same evaluator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5074920"/>
            <a:ext cx="10012680" cy="96012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51560" y="5074920"/>
            <a:ext cx="100584" cy="96012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62456" y="5257800"/>
            <a:ext cx="9509759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YOLO11s remains slightly stronger on recall and strict mAP while remaining much faster in this measured setup.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High-Resolution RT-DETR-L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325880"/>
          <a:ext cx="106070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mAP50-95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ms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RT-DETR-L 640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0.867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0.839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0.881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0.462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49.0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RT-DETR-L 1280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0.766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0.534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0.604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0.295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74.4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3337560"/>
            <a:ext cx="3108960" cy="1097280"/>
          </a:xfrm>
          <a:prstGeom prst="roundRect">
            <a:avLst/>
          </a:prstGeom>
          <a:solidFill>
            <a:srgbClr val="FFF0E2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3337560"/>
            <a:ext cx="73152" cy="109728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3856" y="3483864"/>
            <a:ext cx="279806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MAP50-95 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685032"/>
            <a:ext cx="279806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0.462 -&gt; 0.295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087368"/>
            <a:ext cx="27980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did not improve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337560"/>
            <a:ext cx="3108960" cy="1097280"/>
          </a:xfrm>
          <a:prstGeom prst="roundRect">
            <a:avLst/>
          </a:prstGeom>
          <a:solidFill>
            <a:srgbClr val="FFF0E2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3337560"/>
            <a:ext cx="73152" cy="109728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45736" y="3483864"/>
            <a:ext cx="279806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TOTAL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3685032"/>
            <a:ext cx="279806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49.0 -&gt; 74.4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4087368"/>
            <a:ext cx="27980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higher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337560"/>
            <a:ext cx="3108960" cy="109728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3337560"/>
            <a:ext cx="73152" cy="1097280"/>
          </a:xfrm>
          <a:prstGeom prst="rect">
            <a:avLst/>
          </a:prstGeom>
          <a:solidFill>
            <a:srgbClr val="2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7616" y="3483864"/>
            <a:ext cx="279806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685032"/>
            <a:ext cx="279806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separate 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4087368"/>
            <a:ext cx="27980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not the matched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813" y="5198605"/>
            <a:ext cx="10744627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700" b="1">
                <a:solidFill>
                  <a:srgbClr val="101F2D"/>
                </a:solidFill>
                <a:latin typeface="Aptos"/>
              </a:defRPr>
            </a:pPr>
            <a:r>
              <a:rPr dirty="0"/>
              <a:t>More pixels alone did not compensate for the fixed high-resolution training setup and computational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Per-Class Behavior at 640 px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6583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Class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YOLO R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RT R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YOLO mAP50-95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RT mAP50-95</a:t>
                      </a:r>
                    </a:p>
                  </a:txBody>
                  <a:tcPr marL="54864" marR="54864" marT="36576" marB="36576">
                    <a:solidFill>
                      <a:srgbClr val="006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Missing hole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0.986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0.569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0.567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Mouse bite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0.763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0.765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0.403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0.403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Open circuit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0.850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0.880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0.525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0.513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Short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0.892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0.865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0.551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0.505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Spur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0.767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0.729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0.381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0.342</a:t>
                      </a:r>
                    </a:p>
                  </a:txBody>
                  <a:tcPr marL="54864" marR="54864" marT="36576" marB="36576">
                    <a:solidFill>
                      <a:srgbClr val="FA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Spurious copper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0.853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0.795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0.462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262E"/>
                          </a:solidFill>
                          <a:latin typeface="Aptos"/>
                        </a:defRPr>
                      </a:pPr>
                      <a:r>
                        <a:t>0.443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1417320"/>
            <a:ext cx="3611880" cy="118872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73568" y="1645920"/>
            <a:ext cx="3017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00604C"/>
                </a:solidFill>
                <a:latin typeface="Aptos"/>
              </a:defRPr>
            </a:pPr>
            <a:r>
              <a:t>Strong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1993392"/>
            <a:ext cx="288036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53656F"/>
                </a:solidFill>
                <a:latin typeface="Aptos"/>
              </a:defRPr>
            </a:pPr>
            <a:r>
              <a:t>Missing hole, Open circuit, Short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971800"/>
            <a:ext cx="3611880" cy="1188720"/>
          </a:xfrm>
          <a:prstGeom prst="roundRect">
            <a:avLst/>
          </a:prstGeom>
          <a:solidFill>
            <a:srgbClr val="FFF0E2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3568" y="3200400"/>
            <a:ext cx="30175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EB5B00"/>
                </a:solidFill>
                <a:latin typeface="Aptos"/>
              </a:defRPr>
            </a:pPr>
            <a:r>
              <a:t>Harder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3547872"/>
            <a:ext cx="288036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>
                <a:solidFill>
                  <a:srgbClr val="53656F"/>
                </a:solidFill>
                <a:latin typeface="Aptos"/>
              </a:defRPr>
            </a:pPr>
            <a:r>
              <a:t>Mouse bite and Spur remain subtle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736592"/>
            <a:ext cx="3611880" cy="125730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4736592"/>
            <a:ext cx="100584" cy="125730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7575" y="4919472"/>
            <a:ext cx="3108960" cy="93725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Per-class analysis matters because aggregate mAP can hide inspection risk.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QUALITATIVE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Representative Successes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188720"/>
            <a:ext cx="7406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ass_balanced_success_examples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995160" cy="4617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7160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371600"/>
            <a:ext cx="73152" cy="109728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77656" y="1517904"/>
            <a:ext cx="243230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6" y="1719072"/>
            <a:ext cx="243230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class-balanced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7656" y="2121408"/>
            <a:ext cx="24323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matched YOLO11s-640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80360"/>
            <a:ext cx="2743200" cy="2466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Shows localization across the six-class taxonomy.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Bounding boxes support review and repair workflows.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Visual audit complements aggregate metrics.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QUALITATIVE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Representative Failure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188720"/>
            <a:ext cx="74066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presentative_failure_cases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995160" cy="4617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371600"/>
            <a:ext cx="2743200" cy="1097280"/>
          </a:xfrm>
          <a:prstGeom prst="roundRect">
            <a:avLst/>
          </a:prstGeom>
          <a:solidFill>
            <a:srgbClr val="FFF0E2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1371600"/>
            <a:ext cx="73152" cy="109728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77656" y="1517904"/>
            <a:ext cx="243230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SELECTION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6" y="1719072"/>
            <a:ext cx="243230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5FN + FP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7656" y="2121408"/>
            <a:ext cx="24323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miss-weighted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80360"/>
            <a:ext cx="3404672" cy="2466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False negatives are prioritized because missed defects are costly.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Small/subtle classes motivate high-resolution reinspection.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mAP50-95 exposes loose localization that mAP50 may hide.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2860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Online Deployment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34440"/>
            <a:ext cx="5212080" cy="4480560"/>
          </a:xfrm>
          <a:prstGeom prst="roundRect">
            <a:avLst/>
          </a:prstGeom>
          <a:solidFill>
            <a:srgbClr val="101F2D"/>
          </a:solidFill>
          <a:ln w="12700">
            <a:solidFill>
              <a:srgbClr val="10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ean_open_circ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461772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5074920"/>
            <a:ext cx="25603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Hugging Face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41148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50" b="0">
                <a:solidFill>
                  <a:srgbClr val="C8E8E2"/>
                </a:solidFill>
                <a:latin typeface="Aptos"/>
              </a:defRPr>
            </a:pPr>
            <a:r>
              <a:t>adiivd-pcb-defect-detection.hf.space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4754880" cy="125730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325880"/>
            <a:ext cx="100584" cy="125730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1508760"/>
            <a:ext cx="4251960" cy="93725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Browser workflow: upload PCB image, run detector, inspect annotations, download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57500"/>
            <a:ext cx="4389120" cy="1879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8262E"/>
                </a:solidFill>
                <a:latin typeface="Aptos"/>
              </a:defRPr>
            </a:pPr>
            <a:r>
              <a:rPr dirty="0"/>
              <a:t>Demonstrates packaging and usability.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8262E"/>
                </a:solidFill>
                <a:latin typeface="Aptos"/>
              </a:defRPr>
            </a:pPr>
            <a:r>
              <a:rPr dirty="0"/>
              <a:t>Reports class counts, confidence values, and annotated detections.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8262E"/>
                </a:solidFill>
                <a:latin typeface="Aptos"/>
              </a:defRPr>
            </a:pPr>
            <a:r>
              <a:rPr dirty="0"/>
              <a:t>Not an embedded-device benchmark.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8262E"/>
                </a:solidFill>
                <a:latin typeface="Aptos"/>
              </a:defRPr>
            </a:pPr>
            <a:r>
              <a:rPr dirty="0"/>
              <a:t>No Jetson/</a:t>
            </a:r>
            <a:r>
              <a:rPr dirty="0" err="1"/>
              <a:t>TensorRT</a:t>
            </a:r>
            <a:r>
              <a:rPr dirty="0"/>
              <a:t> latency claims.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Limitations and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166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276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 Display"/>
              </a:defRPr>
            </a:pPr>
            <a:r>
              <a:t>Current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4389120" cy="1668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V100 latency, not edge latency.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Same split, but not fully resource-normalized.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In-distribution data, not factory-domain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166360" cy="425196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00604C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3891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Real factory captures and lighting variation.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Resource-normalized training and latency budgets.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High-resolution crop reinspection.</a:t>
            </a:r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18262E"/>
                </a:solidFill>
                <a:latin typeface="Aptos"/>
              </a:defRPr>
            </a:pPr>
            <a:r>
              <a:rPr dirty="0"/>
              <a:t>Jetson/</a:t>
            </a:r>
            <a:r>
              <a:rPr dirty="0" err="1"/>
              <a:t>TensorRT</a:t>
            </a:r>
            <a:r>
              <a:rPr dirty="0"/>
              <a:t> benchmarking when hardware is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3657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00ADA6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9052560" cy="42062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10927080" cy="2286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6446520"/>
            <a:ext cx="11430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850" b="0">
                <a:solidFill>
                  <a:srgbClr val="53656F"/>
                </a:solidFill>
                <a:latin typeface="Aptos"/>
              </a:defRPr>
            </a:pPr>
            <a:r>
              <a:t>ESCS'26 |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3152" cy="109728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563624"/>
            <a:ext cx="302666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PRACTICAL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764792"/>
            <a:ext cx="302666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YOLO11s-1280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167128"/>
            <a:ext cx="30266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higher recall, mAP50-95, lower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73152" cy="1097280"/>
          </a:xfrm>
          <a:prstGeom prst="rect">
            <a:avLst/>
          </a:prstGeom>
          <a:solidFill>
            <a:srgbClr val="2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563624"/>
            <a:ext cx="302666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CONTROLLED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1764792"/>
            <a:ext cx="302666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YOLO11s-640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167128"/>
            <a:ext cx="30266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competitive at matched resolution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73152" cy="1097280"/>
          </a:xfrm>
          <a:prstGeom prst="rect">
            <a:avLst/>
          </a:prstGeom>
          <a:solidFill>
            <a:srgbClr val="EB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563624"/>
            <a:ext cx="3026664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50" b="1">
                <a:solidFill>
                  <a:srgbClr val="53656F"/>
                </a:solidFill>
                <a:latin typeface="Aptos"/>
              </a:defRPr>
            </a:pPr>
            <a:r>
              <a:t>DEPLOYMENT 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764792"/>
            <a:ext cx="3026664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400" b="1">
                <a:solidFill>
                  <a:srgbClr val="101F2D"/>
                </a:solidFill>
                <a:latin typeface="Aptos Display"/>
              </a:defRPr>
            </a:pPr>
            <a:r>
              <a:t>compare carefully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67128"/>
            <a:ext cx="30266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0">
                <a:solidFill>
                  <a:srgbClr val="53656F"/>
                </a:solidFill>
                <a:latin typeface="Aptos"/>
              </a:defRPr>
            </a:pPr>
            <a:r>
              <a:t>resolution and latency both matter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3429000"/>
            <a:ext cx="10149840" cy="960120"/>
          </a:xfrm>
          <a:prstGeom prst="roundRect">
            <a:avLst/>
          </a:prstGeom>
          <a:solidFill>
            <a:srgbClr val="E5F6F1"/>
          </a:solidFill>
          <a:ln w="12700">
            <a:solidFill>
              <a:srgbClr val="00A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5840" y="3429000"/>
            <a:ext cx="100584" cy="960120"/>
          </a:xfrm>
          <a:prstGeom prst="rect">
            <a:avLst/>
          </a:prstGeom>
          <a:solidFill>
            <a:srgbClr val="00A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16736" y="3611880"/>
            <a:ext cx="9646919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>
              <a:defRPr sz="1800" b="1">
                <a:solidFill>
                  <a:srgbClr val="101F2D"/>
                </a:solidFill>
                <a:latin typeface="Aptos"/>
              </a:defRPr>
            </a:pPr>
            <a:r>
              <a:t>A deployment-oriented benchmark should separate completed configurations from controlled ablations.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1498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800" b="1">
                <a:solidFill>
                  <a:srgbClr val="101F2D"/>
                </a:solidFill>
                <a:latin typeface="Aptos Display"/>
              </a:defRPr>
            </a:pPr>
            <a:r>
              <a:t>Thank you. I welcome your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101498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53656F"/>
                </a:solidFill>
                <a:latin typeface="Aptos"/>
              </a:defRPr>
            </a:pPr>
            <a:r>
              <a:t>Aditya Varun Dhayapulay | California State University, Fullerton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988</Words>
  <Application>Microsoft Macintosh PowerPoint</Application>
  <PresentationFormat>Widescreen</PresentationFormat>
  <Paragraphs>350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Dhayapulay, Aditya Varun</cp:lastModifiedBy>
  <cp:revision>3</cp:revision>
  <dcterms:created xsi:type="dcterms:W3CDTF">2013-01-27T09:14:16Z</dcterms:created>
  <dcterms:modified xsi:type="dcterms:W3CDTF">2026-07-05T05:34:22Z</dcterms:modified>
  <cp:category/>
</cp:coreProperties>
</file>